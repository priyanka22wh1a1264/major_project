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034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070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106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140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176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211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246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281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53" autoAdjust="0"/>
    <p:restoredTop sz="94660"/>
  </p:normalViewPr>
  <p:slideViewPr>
    <p:cSldViewPr snapToGrid="0">
      <p:cViewPr>
        <p:scale>
          <a:sx n="100" d="100"/>
          <a:sy n="100" d="100"/>
        </p:scale>
        <p:origin x="205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48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79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25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82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9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51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34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20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42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87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14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EB33F-7287-430A-A5E4-D7AB6FBF3E22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408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object 19"/>
          <p:cNvSpPr txBox="1"/>
          <p:nvPr/>
        </p:nvSpPr>
        <p:spPr>
          <a:xfrm>
            <a:off x="1" y="45855"/>
            <a:ext cx="6858000" cy="876882"/>
          </a:xfrm>
          <a:prstGeom prst="rect">
            <a:avLst/>
          </a:prstGeom>
        </p:spPr>
        <p:txBody>
          <a:bodyPr vert="horz" wrap="square" lIns="0" tIns="11723" rIns="0" bIns="0" rtlCol="0">
            <a:spAutoFit/>
          </a:bodyPr>
          <a:lstStyle/>
          <a:p>
            <a:pPr algn="ctr">
              <a:spcBef>
                <a:spcPts val="92"/>
              </a:spcBef>
            </a:pPr>
            <a:r>
              <a:rPr sz="2215" b="1" dirty="0">
                <a:solidFill>
                  <a:srgbClr val="0049AC"/>
                </a:solidFill>
                <a:latin typeface="Arial"/>
                <a:cs typeface="Arial"/>
              </a:rPr>
              <a:t>BVRIT</a:t>
            </a:r>
            <a:r>
              <a:rPr sz="2215" b="1" spc="-65" dirty="0">
                <a:solidFill>
                  <a:srgbClr val="0049AC"/>
                </a:solidFill>
                <a:latin typeface="Arial"/>
                <a:cs typeface="Arial"/>
              </a:rPr>
              <a:t> </a:t>
            </a:r>
            <a:r>
              <a:rPr sz="2215" b="1" spc="-9" dirty="0">
                <a:solidFill>
                  <a:srgbClr val="0049AC"/>
                </a:solidFill>
                <a:latin typeface="Arial"/>
                <a:cs typeface="Arial"/>
              </a:rPr>
              <a:t>HYDERABAD</a:t>
            </a:r>
            <a:r>
              <a:rPr lang="en-IN" sz="2215" b="1" spc="-9" dirty="0">
                <a:latin typeface="Arial"/>
                <a:cs typeface="Arial"/>
              </a:rPr>
              <a:t> </a:t>
            </a:r>
          </a:p>
          <a:p>
            <a:pPr algn="ctr">
              <a:spcBef>
                <a:spcPts val="92"/>
              </a:spcBef>
            </a:pPr>
            <a:r>
              <a:rPr lang="en-US" sz="2215" b="1" spc="-9" dirty="0">
                <a:solidFill>
                  <a:srgbClr val="0049AC"/>
                </a:solidFill>
                <a:latin typeface="Arial"/>
                <a:cs typeface="Arial"/>
              </a:rPr>
              <a:t>College of Engineering for Women</a:t>
            </a:r>
          </a:p>
          <a:p>
            <a:pPr algn="ctr"/>
            <a:r>
              <a:rPr lang="en-IN" sz="1108" b="1" dirty="0">
                <a:solidFill>
                  <a:srgbClr val="0049AC"/>
                </a:solidFill>
                <a:latin typeface="Arial MT"/>
                <a:cs typeface="Arial MT"/>
              </a:rPr>
              <a:t>(UGC Autonomous)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96" y="68467"/>
            <a:ext cx="638541" cy="903302"/>
          </a:xfrm>
          <a:prstGeom prst="rect">
            <a:avLst/>
          </a:prstGeom>
        </p:spPr>
      </p:pic>
      <p:pic>
        <p:nvPicPr>
          <p:cNvPr id="6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0517" y="45855"/>
            <a:ext cx="863573" cy="8759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DB7DF-FB9F-F80C-8B3B-0C67B60D9FF1}"/>
              </a:ext>
            </a:extLst>
          </p:cNvPr>
          <p:cNvSpPr txBox="1"/>
          <p:nvPr/>
        </p:nvSpPr>
        <p:spPr>
          <a:xfrm>
            <a:off x="-3626" y="829145"/>
            <a:ext cx="6857999" cy="376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47" b="1" dirty="0">
                <a:solidFill>
                  <a:srgbClr val="FF0000"/>
                </a:solidFill>
                <a:latin typeface="Bahnschrift" panose="020B0502040204020203" pitchFamily="34" charset="0"/>
              </a:rPr>
              <a:t>Department of Information Technology</a:t>
            </a:r>
          </a:p>
        </p:txBody>
      </p:sp>
      <p:grpSp>
        <p:nvGrpSpPr>
          <p:cNvPr id="8" name="object 3"/>
          <p:cNvGrpSpPr/>
          <p:nvPr/>
        </p:nvGrpSpPr>
        <p:grpSpPr>
          <a:xfrm>
            <a:off x="117597" y="1195363"/>
            <a:ext cx="6616493" cy="358491"/>
            <a:chOff x="1399032" y="1240847"/>
            <a:chExt cx="9250680" cy="582111"/>
          </a:xfrm>
        </p:grpSpPr>
        <p:sp>
          <p:nvSpPr>
            <p:cNvPr id="9" name="object 4"/>
            <p:cNvSpPr/>
            <p:nvPr/>
          </p:nvSpPr>
          <p:spPr>
            <a:xfrm>
              <a:off x="1399032" y="1275588"/>
              <a:ext cx="9250680" cy="547370"/>
            </a:xfrm>
            <a:custGeom>
              <a:avLst/>
              <a:gdLst/>
              <a:ahLst/>
              <a:cxnLst/>
              <a:rect l="l" t="t" r="r" b="b"/>
              <a:pathLst>
                <a:path w="9250680" h="547369">
                  <a:moveTo>
                    <a:pt x="9159494" y="0"/>
                  </a:moveTo>
                  <a:lnTo>
                    <a:pt x="91186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455929"/>
                  </a:lnTo>
                  <a:lnTo>
                    <a:pt x="7157" y="491448"/>
                  </a:lnTo>
                  <a:lnTo>
                    <a:pt x="26685" y="520430"/>
                  </a:lnTo>
                  <a:lnTo>
                    <a:pt x="55667" y="539958"/>
                  </a:lnTo>
                  <a:lnTo>
                    <a:pt x="91186" y="547115"/>
                  </a:lnTo>
                  <a:lnTo>
                    <a:pt x="9159494" y="547115"/>
                  </a:lnTo>
                  <a:lnTo>
                    <a:pt x="9195012" y="539958"/>
                  </a:lnTo>
                  <a:lnTo>
                    <a:pt x="9223994" y="520430"/>
                  </a:lnTo>
                  <a:lnTo>
                    <a:pt x="9243522" y="491448"/>
                  </a:lnTo>
                  <a:lnTo>
                    <a:pt x="9250680" y="455929"/>
                  </a:lnTo>
                  <a:lnTo>
                    <a:pt x="9250680" y="91186"/>
                  </a:lnTo>
                  <a:lnTo>
                    <a:pt x="9243522" y="55667"/>
                  </a:lnTo>
                  <a:lnTo>
                    <a:pt x="9223994" y="26685"/>
                  </a:lnTo>
                  <a:lnTo>
                    <a:pt x="9195012" y="7157"/>
                  </a:lnTo>
                  <a:lnTo>
                    <a:pt x="9159494" y="0"/>
                  </a:lnTo>
                  <a:close/>
                </a:path>
              </a:pathLst>
            </a:custGeom>
            <a:solidFill>
              <a:srgbClr val="2E5395"/>
            </a:solidFill>
          </p:spPr>
          <p:txBody>
            <a:bodyPr wrap="square" lIns="0" tIns="0" rIns="0" bIns="0" rtlCol="0"/>
            <a:lstStyle/>
            <a:p>
              <a:endParaRPr sz="1661" dirty="0"/>
            </a:p>
          </p:txBody>
        </p:sp>
        <p:sp>
          <p:nvSpPr>
            <p:cNvPr id="10" name="object 5"/>
            <p:cNvSpPr/>
            <p:nvPr/>
          </p:nvSpPr>
          <p:spPr>
            <a:xfrm>
              <a:off x="1399032" y="1240847"/>
              <a:ext cx="9250680" cy="547369"/>
            </a:xfrm>
            <a:custGeom>
              <a:avLst/>
              <a:gdLst/>
              <a:ahLst/>
              <a:cxnLst/>
              <a:rect l="l" t="t" r="r" b="b"/>
              <a:pathLst>
                <a:path w="9250680" h="547369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6" y="0"/>
                  </a:lnTo>
                  <a:lnTo>
                    <a:pt x="9159494" y="0"/>
                  </a:lnTo>
                  <a:lnTo>
                    <a:pt x="9195012" y="7157"/>
                  </a:lnTo>
                  <a:lnTo>
                    <a:pt x="9223994" y="26685"/>
                  </a:lnTo>
                  <a:lnTo>
                    <a:pt x="9243522" y="55667"/>
                  </a:lnTo>
                  <a:lnTo>
                    <a:pt x="9250680" y="91186"/>
                  </a:lnTo>
                  <a:lnTo>
                    <a:pt x="9250680" y="455929"/>
                  </a:lnTo>
                  <a:lnTo>
                    <a:pt x="9243522" y="491448"/>
                  </a:lnTo>
                  <a:lnTo>
                    <a:pt x="9223994" y="520430"/>
                  </a:lnTo>
                  <a:lnTo>
                    <a:pt x="9195012" y="539958"/>
                  </a:lnTo>
                  <a:lnTo>
                    <a:pt x="9159494" y="547115"/>
                  </a:lnTo>
                  <a:lnTo>
                    <a:pt x="91186" y="547115"/>
                  </a:lnTo>
                  <a:lnTo>
                    <a:pt x="55667" y="539958"/>
                  </a:lnTo>
                  <a:lnTo>
                    <a:pt x="26685" y="520430"/>
                  </a:lnTo>
                  <a:lnTo>
                    <a:pt x="7157" y="491448"/>
                  </a:lnTo>
                  <a:lnTo>
                    <a:pt x="0" y="455929"/>
                  </a:lnTo>
                  <a:lnTo>
                    <a:pt x="0" y="91186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 sz="1661"/>
            </a:p>
          </p:txBody>
        </p:sp>
      </p:grpSp>
      <p:sp>
        <p:nvSpPr>
          <p:cNvPr id="11" name="object 6"/>
          <p:cNvSpPr txBox="1"/>
          <p:nvPr/>
        </p:nvSpPr>
        <p:spPr>
          <a:xfrm>
            <a:off x="-3626" y="878795"/>
            <a:ext cx="6858000" cy="947074"/>
          </a:xfrm>
          <a:prstGeom prst="rect">
            <a:avLst/>
          </a:prstGeom>
        </p:spPr>
        <p:txBody>
          <a:bodyPr vert="horz" wrap="square" lIns="0" tIns="74442" rIns="0" bIns="0" rtlCol="0">
            <a:spAutoFit/>
          </a:bodyPr>
          <a:lstStyle/>
          <a:p>
            <a:pPr marL="606686" algn="ctr">
              <a:spcBef>
                <a:spcPts val="587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1724" algn="ctr">
              <a:spcBef>
                <a:spcPts val="370"/>
              </a:spcBef>
            </a:pPr>
            <a:r>
              <a:rPr lang="en-US" sz="1600" b="1" dirty="0" err="1">
                <a:solidFill>
                  <a:schemeClr val="bg1"/>
                </a:solidFill>
              </a:rPr>
              <a:t>RythuMitra</a:t>
            </a:r>
            <a:r>
              <a:rPr lang="en-US" sz="1600" b="1" dirty="0">
                <a:solidFill>
                  <a:schemeClr val="bg1"/>
                </a:solidFill>
              </a:rPr>
              <a:t>: A Multilingual Voice-First AI Farming Companion</a:t>
            </a:r>
            <a:endParaRPr lang="en-US" sz="1600" dirty="0">
              <a:solidFill>
                <a:schemeClr val="bg1"/>
              </a:solidFill>
            </a:endParaRPr>
          </a:p>
          <a:p>
            <a:pPr marL="11724" algn="ctr">
              <a:spcBef>
                <a:spcPts val="370"/>
              </a:spcBef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124848" y="1633994"/>
            <a:ext cx="3674992" cy="1998672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29892" rIns="0" bIns="0" rtlCol="0">
            <a:spAutoFit/>
          </a:bodyPr>
          <a:lstStyle/>
          <a:p>
            <a:pPr marL="83822" algn="just">
              <a:spcBef>
                <a:spcPts val="234"/>
              </a:spcBef>
            </a:pPr>
            <a:r>
              <a:rPr sz="1246" b="1" spc="-9" dirty="0">
                <a:latin typeface="Calibri"/>
                <a:cs typeface="Calibri"/>
              </a:rPr>
              <a:t>ABSTRACT</a:t>
            </a:r>
            <a:endParaRPr lang="en-IN" sz="1246" b="1" spc="-9" dirty="0">
              <a:latin typeface="Calibri"/>
              <a:cs typeface="Calibri"/>
            </a:endParaRPr>
          </a:p>
          <a:p>
            <a:pPr marL="83822" algn="just">
              <a:spcBef>
                <a:spcPts val="234"/>
              </a:spcBef>
            </a:pP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RythuMitra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is a voice-first AI farming system that enables multilingual interaction and real-time crop disease detection using deep learning. It provides personalized recommendations and integrates blockchain for secure scheme applications. With access to market and weather </a:t>
            </a:r>
          </a:p>
          <a:p>
            <a:pPr marL="83822" algn="just">
              <a:spcBef>
                <a:spcPts val="234"/>
              </a:spcBef>
            </a:pPr>
            <a:r>
              <a:rPr lang="en-IN" sz="1400" spc="-9" dirty="0">
                <a:solidFill>
                  <a:schemeClr val="accent5">
                    <a:lumMod val="75000"/>
                  </a:schemeClr>
                </a:solidFill>
                <a:cs typeface="Calibri"/>
              </a:rPr>
              <a:t>It supports efficient farming.</a:t>
            </a:r>
          </a:p>
          <a:p>
            <a:pPr marL="83822" algn="just">
              <a:spcBef>
                <a:spcPts val="234"/>
              </a:spcBef>
            </a:pPr>
            <a:endParaRPr lang="en-IN" sz="1246" b="1" spc="-9" dirty="0">
              <a:latin typeface="Calibri"/>
              <a:cs typeface="Calibri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117597" y="3714493"/>
            <a:ext cx="3682243" cy="944810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0480" rIns="0" bIns="0" rtlCol="0">
            <a:spAutoFit/>
          </a:bodyPr>
          <a:lstStyle/>
          <a:p>
            <a:pPr marL="84408" algn="just">
              <a:lnSpc>
                <a:spcPct val="150000"/>
              </a:lnSpc>
              <a:spcBef>
                <a:spcPts val="240"/>
              </a:spcBef>
            </a:pPr>
            <a:r>
              <a:rPr lang="en-IN" sz="1246" b="1" spc="-9" dirty="0">
                <a:latin typeface="Calibri"/>
                <a:cs typeface="Calibri"/>
              </a:rPr>
              <a:t>UNIQUENESS</a:t>
            </a:r>
          </a:p>
          <a:p>
            <a:pPr marL="84408" algn="just">
              <a:lnSpc>
                <a:spcPct val="150000"/>
              </a:lnSpc>
              <a:spcBef>
                <a:spcPts val="240"/>
              </a:spcBef>
            </a:pPr>
            <a:endParaRPr lang="en-IN" sz="1246" b="1" spc="-9" dirty="0">
              <a:latin typeface="Calibri"/>
              <a:cs typeface="Calibri"/>
            </a:endParaRPr>
          </a:p>
          <a:p>
            <a:pPr marL="84408" algn="just">
              <a:lnSpc>
                <a:spcPct val="150000"/>
              </a:lnSpc>
              <a:spcBef>
                <a:spcPts val="240"/>
              </a:spcBef>
            </a:pPr>
            <a:endParaRPr lang="en-IN" sz="1246" b="1" spc="-9" dirty="0">
              <a:latin typeface="Calibri"/>
              <a:cs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604386-4D1B-590B-2FD8-A813D26A9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407109"/>
              </p:ext>
            </p:extLst>
          </p:nvPr>
        </p:nvGraphicFramePr>
        <p:xfrm>
          <a:off x="56636" y="3977176"/>
          <a:ext cx="5938650" cy="564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357">
                  <a:extLst>
                    <a:ext uri="{9D8B030D-6E8A-4147-A177-3AD203B41FA5}">
                      <a16:colId xmlns:a16="http://schemas.microsoft.com/office/drawing/2014/main" val="1018455846"/>
                    </a:ext>
                  </a:extLst>
                </a:gridCol>
                <a:gridCol w="4080293">
                  <a:extLst>
                    <a:ext uri="{9D8B030D-6E8A-4147-A177-3AD203B41FA5}">
                      <a16:colId xmlns:a16="http://schemas.microsoft.com/office/drawing/2014/main" val="1565286044"/>
                    </a:ext>
                  </a:extLst>
                </a:gridCol>
              </a:tblGrid>
              <a:tr h="28223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</a:rPr>
                        <a:t>Voice-first interaction</a:t>
                      </a:r>
                      <a:endParaRPr lang="en-IN" sz="1250" b="0" dirty="0">
                        <a:solidFill>
                          <a:schemeClr val="tx1"/>
                        </a:solidFill>
                      </a:endParaRPr>
                    </a:p>
                  </a:txBody>
                  <a:tcPr marL="84406" marR="84406" marT="42203" marB="4220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</a:rPr>
                        <a:t>Multilingual support</a:t>
                      </a:r>
                      <a:endParaRPr lang="en-IN" sz="1250" b="0" dirty="0">
                        <a:solidFill>
                          <a:schemeClr val="tx1"/>
                        </a:solidFill>
                      </a:endParaRPr>
                    </a:p>
                  </a:txBody>
                  <a:tcPr marL="84406" marR="84406" marT="42203" marB="4220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656120"/>
                  </a:ext>
                </a:extLst>
              </a:tr>
              <a:tr h="28223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Scheme support </a:t>
                      </a:r>
                      <a:endParaRPr lang="en-IN" sz="1250" dirty="0"/>
                    </a:p>
                  </a:txBody>
                  <a:tcPr marL="84406" marR="84406" marT="42203" marB="42203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Farmer-friendly UI </a:t>
                      </a:r>
                      <a:endParaRPr lang="en-IN" sz="1250" dirty="0"/>
                    </a:p>
                  </a:txBody>
                  <a:tcPr marL="84406" marR="84406" marT="42203" marB="42203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47416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91E0260-CDCD-CC6F-0E79-0A4D650DAF07}"/>
              </a:ext>
            </a:extLst>
          </p:cNvPr>
          <p:cNvSpPr txBox="1"/>
          <p:nvPr/>
        </p:nvSpPr>
        <p:spPr>
          <a:xfrm>
            <a:off x="756138" y="6730206"/>
            <a:ext cx="1195754" cy="376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47" b="1" dirty="0">
                <a:solidFill>
                  <a:schemeClr val="bg1"/>
                </a:solidFill>
              </a:rPr>
              <a:t>SDG -11</a:t>
            </a:r>
            <a:endParaRPr lang="en-IN" sz="1847" b="1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7597" y="8241446"/>
            <a:ext cx="6615555" cy="15832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661" dirty="0">
              <a:solidFill>
                <a:srgbClr val="FF0000"/>
              </a:solidFill>
            </a:endParaRPr>
          </a:p>
        </p:txBody>
      </p:sp>
      <p:sp>
        <p:nvSpPr>
          <p:cNvPr id="15" name="object 2"/>
          <p:cNvSpPr txBox="1"/>
          <p:nvPr/>
        </p:nvSpPr>
        <p:spPr>
          <a:xfrm>
            <a:off x="135009" y="9077052"/>
            <a:ext cx="6167294" cy="704163"/>
          </a:xfrm>
          <a:prstGeom prst="rect">
            <a:avLst/>
          </a:prstGeom>
        </p:spPr>
        <p:txBody>
          <a:bodyPr vert="horz" wrap="square" lIns="0" tIns="9965" rIns="0" bIns="0" rtlCol="0">
            <a:spAutoFit/>
          </a:bodyPr>
          <a:lstStyle/>
          <a:p>
            <a:pPr marL="11724" marR="4690" indent="175851">
              <a:lnSpc>
                <a:spcPct val="100600"/>
              </a:lnSpc>
              <a:spcBef>
                <a:spcPts val="79"/>
              </a:spcBef>
              <a:tabLst>
                <a:tab pos="3240344" algn="l"/>
              </a:tabLst>
            </a:pPr>
            <a:r>
              <a:rPr lang="en-IN" sz="1477" b="1" spc="-37" dirty="0">
                <a:solidFill>
                  <a:srgbClr val="FFFFFF"/>
                </a:solidFill>
                <a:cs typeface="Calibri"/>
              </a:rPr>
              <a:t>22WH1A1262              </a:t>
            </a:r>
            <a:r>
              <a:rPr lang="en-IN" sz="1477" b="1" spc="-27" dirty="0">
                <a:solidFill>
                  <a:srgbClr val="FFFFFF"/>
                </a:solidFill>
                <a:latin typeface="Calibri"/>
                <a:cs typeface="Calibri"/>
              </a:rPr>
              <a:t>22WH1A1263</a:t>
            </a:r>
            <a:r>
              <a:rPr lang="en-IN" sz="1477" b="1" dirty="0">
                <a:solidFill>
                  <a:srgbClr val="FFFFFF"/>
                </a:solidFill>
                <a:latin typeface="Calibri"/>
                <a:cs typeface="Calibri"/>
              </a:rPr>
              <a:t>         22WH1A1264          </a:t>
            </a:r>
            <a:r>
              <a:rPr lang="en-IN" sz="1477" b="1" spc="-18" dirty="0">
                <a:solidFill>
                  <a:srgbClr val="FFFFFF"/>
                </a:solidFill>
                <a:latin typeface="Calibri"/>
                <a:cs typeface="Calibri"/>
              </a:rPr>
              <a:t>22WH1A1265</a:t>
            </a:r>
          </a:p>
          <a:p>
            <a:pPr marL="11724" marR="4690" indent="175851">
              <a:lnSpc>
                <a:spcPct val="100600"/>
              </a:lnSpc>
              <a:spcBef>
                <a:spcPts val="79"/>
              </a:spcBef>
              <a:tabLst>
                <a:tab pos="3240344" algn="l"/>
              </a:tabLst>
            </a:pPr>
            <a:r>
              <a:rPr lang="en-IN" sz="1477" b="1" spc="-18" dirty="0">
                <a:solidFill>
                  <a:srgbClr val="FFFFFF"/>
                </a:solidFill>
                <a:latin typeface="Calibri"/>
                <a:cs typeface="Calibri"/>
              </a:rPr>
              <a:t> Ch. Pranavi                    P. Neha                    S. Priyanka               K. Siri San</a:t>
            </a:r>
            <a:r>
              <a:rPr lang="en-US" sz="1477" b="1" spc="-18" dirty="0" err="1">
                <a:solidFill>
                  <a:srgbClr val="FFFFFF"/>
                </a:solidFill>
                <a:latin typeface="Calibri"/>
                <a:cs typeface="Calibri"/>
              </a:rPr>
              <a:t>jana</a:t>
            </a:r>
            <a:r>
              <a:rPr lang="en-US" sz="1477" b="1" spc="-18" dirty="0">
                <a:solidFill>
                  <a:srgbClr val="FFFFFF"/>
                </a:solidFill>
                <a:latin typeface="Calibri"/>
                <a:cs typeface="Calibri"/>
              </a:rPr>
              <a:t> Faculty </a:t>
            </a: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Mentor</a:t>
            </a:r>
            <a:r>
              <a:rPr lang="en-US" sz="1400" b="1" spc="-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lang="en-US" sz="1400" b="1" spc="-3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400" b="1" spc="-9" dirty="0">
                <a:solidFill>
                  <a:srgbClr val="FFFFFF"/>
                </a:solidFill>
                <a:latin typeface="Calibri"/>
                <a:cs typeface="Calibri"/>
              </a:rPr>
              <a:t>Mr. Ch. Anil Kumar   Email Id: anilkumar.ch@bvrithyderabad.edu.in </a:t>
            </a:r>
            <a:endParaRPr lang="en-US" sz="1477" dirty="0">
              <a:latin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3E189A-B73F-6B9A-523F-942B7467632C}"/>
              </a:ext>
            </a:extLst>
          </p:cNvPr>
          <p:cNvSpPr/>
          <p:nvPr/>
        </p:nvSpPr>
        <p:spPr>
          <a:xfrm>
            <a:off x="4916920" y="1548660"/>
            <a:ext cx="894185" cy="284067"/>
          </a:xfrm>
          <a:prstGeom prst="rect">
            <a:avLst/>
          </a:prstGeom>
          <a:noFill/>
        </p:spPr>
        <p:txBody>
          <a:bodyPr wrap="none" lIns="84406" tIns="42203" rIns="84406" bIns="42203">
            <a:spAutoFit/>
          </a:bodyPr>
          <a:lstStyle/>
          <a:p>
            <a:pPr algn="ctr"/>
            <a:r>
              <a:rPr lang="en-US" sz="1292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Dashboard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9198AA5-294D-C1F4-9D61-E2660BB388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921" r="28978" b="31532"/>
          <a:stretch/>
        </p:blipFill>
        <p:spPr>
          <a:xfrm>
            <a:off x="3875650" y="1813651"/>
            <a:ext cx="2870750" cy="149248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8155E00-629E-D936-0D83-358A7A98019F}"/>
              </a:ext>
            </a:extLst>
          </p:cNvPr>
          <p:cNvSpPr txBox="1"/>
          <p:nvPr/>
        </p:nvSpPr>
        <p:spPr>
          <a:xfrm>
            <a:off x="4372734" y="3308779"/>
            <a:ext cx="1876581" cy="291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92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Architecture 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99" y="3587332"/>
            <a:ext cx="2844253" cy="1857015"/>
          </a:xfrm>
          <a:prstGeom prst="rect">
            <a:avLst/>
          </a:prstGeom>
        </p:spPr>
      </p:pic>
      <p:sp>
        <p:nvSpPr>
          <p:cNvPr id="23" name="object 8"/>
          <p:cNvSpPr txBox="1"/>
          <p:nvPr/>
        </p:nvSpPr>
        <p:spPr>
          <a:xfrm>
            <a:off x="113109" y="4738870"/>
            <a:ext cx="3671725" cy="1785005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1652" rIns="0" bIns="0" rtlCol="0">
            <a:spAutoFit/>
          </a:bodyPr>
          <a:lstStyle/>
          <a:p>
            <a:pPr marL="83822">
              <a:spcBef>
                <a:spcPts val="249"/>
              </a:spcBef>
            </a:pPr>
            <a:r>
              <a:rPr sz="1246" b="1" spc="-9" dirty="0">
                <a:latin typeface="Calibri"/>
                <a:cs typeface="Calibri"/>
              </a:rPr>
              <a:t>METHODOLOGY</a:t>
            </a:r>
            <a:endParaRPr lang="en-IN" sz="1246" b="1" spc="-9" dirty="0">
              <a:latin typeface="Calibri"/>
              <a:cs typeface="Calibri"/>
            </a:endParaRPr>
          </a:p>
          <a:p>
            <a:pPr marL="83822" algn="just">
              <a:spcBef>
                <a:spcPts val="249"/>
              </a:spcBef>
            </a:pPr>
            <a:r>
              <a:rPr lang="en-US" sz="1200" dirty="0"/>
              <a:t>The methodology uses CNN models for crop disease detection, optimizing predictions through image preprocessing and classification. NLP-based voice interaction enables multilingual communication, while blockchain ensures secure scheme processing. This helps in accurate and efficient farming decisions.</a:t>
            </a:r>
          </a:p>
          <a:p>
            <a:pPr marL="83822">
              <a:spcBef>
                <a:spcPts val="249"/>
              </a:spcBef>
            </a:pPr>
            <a:endParaRPr lang="en-US" sz="1200" b="1" spc="-9" dirty="0">
              <a:latin typeface="Calibri"/>
              <a:cs typeface="Calibri"/>
            </a:endParaRPr>
          </a:p>
          <a:p>
            <a:pPr marL="83822">
              <a:spcBef>
                <a:spcPts val="249"/>
              </a:spcBef>
            </a:pPr>
            <a:endParaRPr lang="en-IN" sz="1246" b="1" spc="-9" dirty="0">
              <a:latin typeface="Calibri"/>
              <a:cs typeface="Calibri"/>
            </a:endParaRPr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2071B741-C480-6826-D68C-F8F9DC07F36A}"/>
              </a:ext>
            </a:extLst>
          </p:cNvPr>
          <p:cNvSpPr txBox="1"/>
          <p:nvPr/>
        </p:nvSpPr>
        <p:spPr>
          <a:xfrm>
            <a:off x="111599" y="6189173"/>
            <a:ext cx="3674992" cy="1942840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0480" rIns="0" bIns="0" rtlCol="0">
            <a:spAutoFit/>
          </a:bodyPr>
          <a:lstStyle/>
          <a:p>
            <a:pPr marL="84408" algn="just">
              <a:spcBef>
                <a:spcPts val="240"/>
              </a:spcBef>
            </a:pPr>
            <a:r>
              <a:rPr lang="en-IN" sz="1246" b="1" spc="-9" dirty="0">
                <a:latin typeface="Calibri"/>
                <a:cs typeface="Calibri"/>
              </a:rPr>
              <a:t>SOCIETAL USE</a:t>
            </a:r>
            <a:endParaRPr lang="en-IN" sz="1246" spc="-9" dirty="0">
              <a:latin typeface="Calibri"/>
              <a:cs typeface="Calibri"/>
            </a:endParaRPr>
          </a:p>
          <a:p>
            <a:pPr marL="84408" algn="just">
              <a:spcBef>
                <a:spcPts val="240"/>
              </a:spcBef>
            </a:pPr>
            <a:r>
              <a:rPr lang="en-US" sz="1200" dirty="0" err="1"/>
              <a:t>RythuMitra</a:t>
            </a:r>
            <a:r>
              <a:rPr lang="en-US" sz="1200" dirty="0"/>
              <a:t> supports sustainable agriculture by enabling early crop disease detection, reducing losses, and improving farmer productivity. Its voice-first multilingual design makes technology accessible to low-literacy users, while blockchain ensures transparent scheme access. The system contributes to digital empowerment of farmers and supports Sustainable Development Goals like Zero Hunger and Industry Innovation.</a:t>
            </a:r>
          </a:p>
          <a:p>
            <a:pPr marL="84408" algn="just">
              <a:spcBef>
                <a:spcPts val="240"/>
              </a:spcBef>
            </a:pPr>
            <a:endParaRPr lang="en-IN" sz="1246" spc="-9" dirty="0">
              <a:latin typeface="Calibri"/>
              <a:cs typeface="Calibri"/>
            </a:endParaRPr>
          </a:p>
        </p:txBody>
      </p:sp>
      <p:sp>
        <p:nvSpPr>
          <p:cNvPr id="28" name="object 10"/>
          <p:cNvSpPr/>
          <p:nvPr/>
        </p:nvSpPr>
        <p:spPr>
          <a:xfrm>
            <a:off x="3888899" y="5591704"/>
            <a:ext cx="2857502" cy="1741350"/>
          </a:xfrm>
          <a:custGeom>
            <a:avLst/>
            <a:gdLst/>
            <a:ahLst/>
            <a:cxnLst/>
            <a:rect l="l" t="t" r="r" b="b"/>
            <a:pathLst>
              <a:path w="4372609" h="2062479">
                <a:moveTo>
                  <a:pt x="4372356" y="0"/>
                </a:moveTo>
                <a:lnTo>
                  <a:pt x="0" y="0"/>
                </a:lnTo>
                <a:lnTo>
                  <a:pt x="0" y="2061972"/>
                </a:lnTo>
                <a:lnTo>
                  <a:pt x="4372356" y="2061972"/>
                </a:lnTo>
                <a:lnTo>
                  <a:pt x="4372356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 sz="1661"/>
          </a:p>
        </p:txBody>
      </p:sp>
      <p:sp>
        <p:nvSpPr>
          <p:cNvPr id="29" name="object 11"/>
          <p:cNvSpPr txBox="1"/>
          <p:nvPr/>
        </p:nvSpPr>
        <p:spPr>
          <a:xfrm>
            <a:off x="3937458" y="5588385"/>
            <a:ext cx="2853107" cy="1732230"/>
          </a:xfrm>
          <a:prstGeom prst="rect">
            <a:avLst/>
          </a:prstGeom>
        </p:spPr>
        <p:txBody>
          <a:bodyPr vert="horz" wrap="square" lIns="0" tIns="11137" rIns="0" bIns="0" rtlCol="0">
            <a:spAutoFit/>
          </a:bodyPr>
          <a:lstStyle/>
          <a:p>
            <a:pPr marL="84408">
              <a:spcBef>
                <a:spcPts val="88"/>
              </a:spcBef>
            </a:pPr>
            <a:r>
              <a:rPr lang="en-IN" sz="1250" b="1" spc="-9" dirty="0">
                <a:latin typeface="Calibri"/>
                <a:cs typeface="Calibri"/>
              </a:rPr>
              <a:t>REFERENCES</a:t>
            </a:r>
          </a:p>
          <a:p>
            <a:r>
              <a:rPr lang="en-US" sz="1400" dirty="0"/>
              <a:t> [</a:t>
            </a:r>
            <a:r>
              <a:rPr lang="en-US" sz="1200" dirty="0"/>
              <a:t>1] ICAR, “Plant disease identification using         deep learning,” Indian Council of Agricultural Research, Survey Paper.</a:t>
            </a:r>
          </a:p>
          <a:p>
            <a:r>
              <a:rPr lang="en-US" sz="1200" dirty="0"/>
              <a:t>[2] IJERT, “AI-based farming chatbot for farmer assistance using NLP, TTS, and STT,” International Journal of Engineering Research &amp; Technology.</a:t>
            </a:r>
          </a:p>
          <a:p>
            <a:pPr marL="84408">
              <a:spcBef>
                <a:spcPts val="88"/>
              </a:spcBef>
            </a:pPr>
            <a:endParaRPr lang="en-IN" sz="1250" b="1" spc="-9" dirty="0">
              <a:latin typeface="Calibri"/>
              <a:cs typeface="Calibri"/>
            </a:endParaRPr>
          </a:p>
        </p:txBody>
      </p:sp>
      <p:sp>
        <p:nvSpPr>
          <p:cNvPr id="34" name="object 10"/>
          <p:cNvSpPr/>
          <p:nvPr/>
        </p:nvSpPr>
        <p:spPr>
          <a:xfrm>
            <a:off x="3882901" y="7409319"/>
            <a:ext cx="2857502" cy="752560"/>
          </a:xfrm>
          <a:custGeom>
            <a:avLst/>
            <a:gdLst/>
            <a:ahLst/>
            <a:cxnLst/>
            <a:rect l="l" t="t" r="r" b="b"/>
            <a:pathLst>
              <a:path w="4372609" h="2062479">
                <a:moveTo>
                  <a:pt x="4372356" y="0"/>
                </a:moveTo>
                <a:lnTo>
                  <a:pt x="0" y="0"/>
                </a:lnTo>
                <a:lnTo>
                  <a:pt x="0" y="2061972"/>
                </a:lnTo>
                <a:lnTo>
                  <a:pt x="4372356" y="2061972"/>
                </a:lnTo>
                <a:lnTo>
                  <a:pt x="4372356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pPr marL="84408" lvl="0" algn="just">
              <a:spcBef>
                <a:spcPts val="240"/>
              </a:spcBef>
            </a:pPr>
            <a:r>
              <a:rPr lang="en-IN" sz="1246" b="1" spc="-9" dirty="0">
                <a:solidFill>
                  <a:prstClr val="black"/>
                </a:solidFill>
                <a:cs typeface="Calibri"/>
              </a:rPr>
              <a:t>GITHUB LINK</a:t>
            </a:r>
          </a:p>
          <a:p>
            <a:pPr marL="84408" lvl="0" algn="just">
              <a:spcBef>
                <a:spcPts val="240"/>
              </a:spcBef>
            </a:pPr>
            <a:r>
              <a:rPr lang="en-IN" sz="1200" spc="-9" dirty="0">
                <a:solidFill>
                  <a:prstClr val="black"/>
                </a:solidFill>
                <a:cs typeface="Calibri"/>
              </a:rPr>
              <a:t>https://github.com/priyanka22wh1a1264/major_project</a:t>
            </a:r>
          </a:p>
        </p:txBody>
      </p:sp>
      <p:sp>
        <p:nvSpPr>
          <p:cNvPr id="25" name="Oval 24"/>
          <p:cNvSpPr/>
          <p:nvPr/>
        </p:nvSpPr>
        <p:spPr>
          <a:xfrm>
            <a:off x="166558" y="1271067"/>
            <a:ext cx="589579" cy="23862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rgbClr val="2E5395"/>
                </a:solidFill>
              </a:rPr>
              <a:t>10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765051-358C-7B84-121E-C1A9FD29BE6B}"/>
              </a:ext>
            </a:extLst>
          </p:cNvPr>
          <p:cNvSpPr/>
          <p:nvPr/>
        </p:nvSpPr>
        <p:spPr>
          <a:xfrm>
            <a:off x="56636" y="6098870"/>
            <a:ext cx="3784672" cy="830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B53FC0-F538-1ADB-EE76-E4F2B44EAC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23" y="8284579"/>
            <a:ext cx="761060" cy="814385"/>
          </a:xfrm>
          <a:prstGeom prst="rect">
            <a:avLst/>
          </a:prstGeom>
        </p:spPr>
      </p:pic>
      <p:sp>
        <p:nvSpPr>
          <p:cNvPr id="30" name="AutoShape 2">
            <a:extLst>
              <a:ext uri="{FF2B5EF4-FFF2-40B4-BE49-F238E27FC236}">
                <a16:creationId xmlns:a16="http://schemas.microsoft.com/office/drawing/2014/main" id="{0C078606-6C07-94D0-C9B6-B86EDBDEEF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800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E61B2DC8-90BC-975D-0458-D7CE6F8848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4953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AutoShape 6">
            <a:extLst>
              <a:ext uri="{FF2B5EF4-FFF2-40B4-BE49-F238E27FC236}">
                <a16:creationId xmlns:a16="http://schemas.microsoft.com/office/drawing/2014/main" id="{9CD6AE09-FADA-6536-C744-3BE224E6F1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5105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" name="AutoShape 8">
            <a:extLst>
              <a:ext uri="{FF2B5EF4-FFF2-40B4-BE49-F238E27FC236}">
                <a16:creationId xmlns:a16="http://schemas.microsoft.com/office/drawing/2014/main" id="{51F246FD-A799-B3BF-EB4C-C12EF890A8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3800" y="5257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" name="AutoShape 10">
            <a:extLst>
              <a:ext uri="{FF2B5EF4-FFF2-40B4-BE49-F238E27FC236}">
                <a16:creationId xmlns:a16="http://schemas.microsoft.com/office/drawing/2014/main" id="{C7CEAE1C-69C6-BA35-D490-14679C038B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5410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89F802D-FCD7-CF55-5EFB-1BA17E6CEF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4167" y="8283269"/>
            <a:ext cx="858543" cy="83115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4CA3242-6555-DF3A-C4B5-FFBA47D545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6557" y="8255900"/>
            <a:ext cx="858543" cy="843064"/>
          </a:xfrm>
          <a:prstGeom prst="rect">
            <a:avLst/>
          </a:prstGeom>
        </p:spPr>
      </p:pic>
      <p:sp>
        <p:nvSpPr>
          <p:cNvPr id="47" name="AutoShape 12">
            <a:extLst>
              <a:ext uri="{FF2B5EF4-FFF2-40B4-BE49-F238E27FC236}">
                <a16:creationId xmlns:a16="http://schemas.microsoft.com/office/drawing/2014/main" id="{4F88EAD4-BEEB-0DE8-010F-09D80DA236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8600" y="5562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" name="AutoShape 14">
            <a:extLst>
              <a:ext uri="{FF2B5EF4-FFF2-40B4-BE49-F238E27FC236}">
                <a16:creationId xmlns:a16="http://schemas.microsoft.com/office/drawing/2014/main" id="{2E3411CC-91A7-9675-F2F7-DF2884587D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5715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50F5170-1AFE-0DAC-F7E6-600434C311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8271311"/>
            <a:ext cx="858543" cy="82765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90193EA-A962-3D97-4C8B-7371806CE77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022" y="1825869"/>
            <a:ext cx="2876191" cy="148027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6989E13-347D-6871-1701-8AFCE82F2A4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772" y="3565935"/>
            <a:ext cx="2880655" cy="190796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443E292-90D1-FDA0-87AD-BCC94D92FF5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6" y="45605"/>
            <a:ext cx="852327" cy="104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8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606</TotalTime>
  <Words>289</Words>
  <Application>Microsoft Office PowerPoint</Application>
  <PresentationFormat>A4 Paper (210x297 mm)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MT</vt:lpstr>
      <vt:lpstr>Bahnschrift</vt:lpstr>
      <vt:lpstr>Calibri</vt:lpstr>
      <vt:lpstr>Calibri Light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Renu Sreeja Kolli</dc:creator>
  <cp:lastModifiedBy>sandhila priyanka</cp:lastModifiedBy>
  <cp:revision>22</cp:revision>
  <dcterms:created xsi:type="dcterms:W3CDTF">2024-05-08T11:24:12Z</dcterms:created>
  <dcterms:modified xsi:type="dcterms:W3CDTF">2026-04-15T17:49:03Z</dcterms:modified>
</cp:coreProperties>
</file>